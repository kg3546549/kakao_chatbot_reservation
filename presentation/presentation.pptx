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5143500"/>
          </a:xfrm>
          <a:prstGeom prst="roundRect">
            <a:avLst/>
          </a:prstGeom>
          <a:solidFill>
            <a:srgbClr val="4091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0"/>
            <a:ext cx="64008" cy="5143500"/>
          </a:xfrm>
          <a:prstGeom prst="roundRect">
            <a:avLst/>
          </a:prstGeom>
          <a:solidFill>
            <a:srgbClr val="D8F3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234440"/>
            <a:ext cx="7498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카카오톡 예약 자동화 플랫폼
</a:t>
            </a:r>
            <a:pPr indent="0" marL="0">
              <a:buNone/>
            </a:pPr>
            <a:r>
              <a:rPr lang="en-US" sz="1250" dirty="0">
                <a:solidFill>
                  <a:srgbClr val="D8F3D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대화 감지 및 클라우드 연동 예약 관리 솔루션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소개 및 기능 설명서  |  그린 에디션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01. 카카오톡 예약을 받는 주요 업종
</a:t>
            </a:r>
            <a:pPr indent="0" marL="0">
              <a:buNone/>
            </a:pPr>
            <a:r>
              <a:rPr lang="en-US" sz="1050" dirty="0">
                <a:solidFill>
                  <a:srgbClr val="4091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 내 단골 고객 소모임 활성화가 매장 생존 및 단골 확보의 핵심인 비즈니스군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8046720" cy="18288"/>
          </a:xfrm>
          <a:prstGeom prst="rect">
            <a:avLst/>
          </a:prstGeom>
          <a:solidFill>
            <a:srgbClr val="4091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51560"/>
            <a:ext cx="2468880" cy="288036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234440"/>
            <a:ext cx="21031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⚽ 레저 및 스포츠
</a:t>
            </a:r>
            <a:pPr indent="0" marL="0">
              <a:buNone/>
            </a:pPr>
            <a:r>
              <a:rPr lang="en-US" sz="950" dirty="0">
                <a:solidFill>
                  <a:srgbClr val="6E75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예약/매칭이 잦고 친목이 바탕이 되는 업종
</a:t>
            </a:r>
            <a:pPr indent="0" marL="0">
              <a:buNone/>
            </a:pPr>
            <a:r>
              <a:rPr lang="en-US" sz="1000" dirty="0">
                <a:solidFill>
                  <a:srgbClr val="2D3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실내 스포츠 센터: 그룹 세션 예약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000" dirty="0">
                <a:solidFill>
                  <a:srgbClr val="2D3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탁구/당구장: 동호인 매치 예약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000" dirty="0">
                <a:solidFill>
                  <a:srgbClr val="2D3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골프/볼링장: 팀 단위 라인 예약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291840" y="1051560"/>
            <a:ext cx="2468880" cy="288036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1234440"/>
            <a:ext cx="21031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🏢 공간 대여 / 대관
</a:t>
            </a:r>
            <a:pPr indent="0" marL="0">
              <a:buNone/>
            </a:pPr>
            <a:r>
              <a:rPr lang="en-US" sz="950" dirty="0">
                <a:solidFill>
                  <a:srgbClr val="6E75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정원 제한이 있고 실시간 룸 현황이 중요함
</a:t>
            </a:r>
            <a:pPr indent="0" marL="0">
              <a:buNone/>
            </a:pPr>
            <a:r>
              <a:rPr lang="en-US" sz="1000" dirty="0">
                <a:solidFill>
                  <a:srgbClr val="2D3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풋살장: 단체 구장 대관 예약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000" dirty="0">
                <a:solidFill>
                  <a:srgbClr val="2D3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파티룸/스튜디오: 시간별 공간 대여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000" dirty="0">
                <a:solidFill>
                  <a:srgbClr val="2D3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스터디카페: 회의실 정원 예약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35040" y="1051560"/>
            <a:ext cx="2468880" cy="288036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17920" y="1234440"/>
            <a:ext cx="21031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🎲 밀착 커뮤니티형
</a:t>
            </a:r>
            <a:pPr indent="0" marL="0">
              <a:buNone/>
            </a:pPr>
            <a:r>
              <a:rPr lang="en-US" sz="950" dirty="0">
                <a:solidFill>
                  <a:srgbClr val="6E75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체류 시간이 길고 즉석 매칭이 활발한 곳
</a:t>
            </a:r>
            <a:pPr indent="0" marL="0">
              <a:buNone/>
            </a:pPr>
            <a:r>
              <a:rPr lang="en-US" sz="1000" dirty="0">
                <a:solidFill>
                  <a:srgbClr val="2D3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보드게임/방탈출: 이용 시간 예약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000" dirty="0">
                <a:solidFill>
                  <a:srgbClr val="2D3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PC방 팀룸: 단체 좌석 지정 예약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000" dirty="0">
                <a:solidFill>
                  <a:srgbClr val="2D3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피트니스/크로스핏: 클래스 예약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02. 고객 커뮤니티 구축 = 오프라인 매장의 매출 확보
</a:t>
            </a:r>
            <a:pPr indent="0" marL="0">
              <a:buNone/>
            </a:pPr>
            <a:r>
              <a:rPr lang="en-US" sz="1050" dirty="0">
                <a:solidFill>
                  <a:srgbClr val="4091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단순 예약을 넘어 고객 간 친목 네트워크가 단골 확보로 이어지는 구조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8046720" cy="18288"/>
          </a:xfrm>
          <a:prstGeom prst="rect">
            <a:avLst/>
          </a:prstGeom>
          <a:solidFill>
            <a:srgbClr val="4091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51560"/>
            <a:ext cx="374904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234440"/>
            <a:ext cx="32004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단골 고객 락인(Lock-in) 효과
</a:t>
            </a:r>
            <a:pPr indent="0" marL="0">
              <a:buNone/>
            </a:pPr>
            <a:r>
              <a:rPr lang="en-US" sz="1050" dirty="0">
                <a:solidFill>
                  <a:srgbClr val="2D3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소모임 결속: 매장 방문 목적이 단순 소비에서 '회원 간 매치'로 전환됨
</a:t>
            </a:r>
            <a:pPr indent="0" marL="0">
              <a:buNone/>
            </a:pPr>
            <a:r>
              <a:rPr lang="en-US" sz="1050" dirty="0">
                <a:solidFill>
                  <a:srgbClr val="2D3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재방문율 극대화: 고객 간 친목 네트워크가 촘촘할수록 타 매장 이탈 방지
</a:t>
            </a:r>
            <a:pPr indent="0" marL="0">
              <a:buNone/>
            </a:pPr>
            <a:r>
              <a:rPr lang="en-US" sz="1050" dirty="0">
                <a:solidFill>
                  <a:srgbClr val="2D3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자발적 신규 유치: 단골 회원이 스스로 다른 참가자를 대관 및 예약 유도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051560"/>
            <a:ext cx="3931920" cy="2880360"/>
          </a:xfrm>
          <a:prstGeom prst="roundRect">
            <a:avLst>
              <a:gd name="adj" fmla="val 2540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01600" dist="25400" dir="5400000">
              <a:srgbClr val="081F14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234440"/>
            <a:ext cx="33832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단체 카톡방: 예약과 모집의 허브
</a:t>
            </a:r>
            <a:pPr indent="0" marL="0">
              <a:buNone/>
            </a:pPr>
            <a:r>
              <a:rPr lang="en-US" sz="1050" b="1" dirty="0">
                <a:solidFill>
                  <a:srgbClr val="D8F3D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일상적 소통 공간: 단골 회원과 매니저가 스케줄을 약속하는 핵심 채널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대화 맥락 내 예약: 톡방 소통 중 외부 링크 이동 없이 즉각 예약 확정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동선 단절 해결: 불필요한 회원 가입 및 로그인 단계를 제거해 편의성 제공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03. 기존 예약 방식의 고충 (Pain Points)
</a:t>
            </a:r>
            <a:pPr indent="0" marL="0">
              <a:buNone/>
            </a:pPr>
            <a:r>
              <a:rPr lang="en-US" sz="1050" dirty="0">
                <a:solidFill>
                  <a:srgbClr val="4091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채널 파편화 및 수동 관리로 인해 끊어지는 예약 동선과 관리 업무의 비효율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8046720" cy="18288"/>
          </a:xfrm>
          <a:prstGeom prst="rect">
            <a:avLst/>
          </a:prstGeom>
          <a:solidFill>
            <a:srgbClr val="4091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51560"/>
            <a:ext cx="2468880" cy="2880360"/>
          </a:xfrm>
          <a:prstGeom prst="roundRect">
            <a:avLst>
              <a:gd name="adj" fmla="val 2963"/>
            </a:avLst>
          </a:prstGeom>
          <a:solidFill>
            <a:srgbClr val="FFF5F5"/>
          </a:solidFill>
          <a:ln w="12700">
            <a:solidFill>
              <a:srgbClr val="FED7D7"/>
            </a:solidFill>
            <a:prstDash val="solid"/>
          </a:ln>
          <a:effectLst>
            <a:outerShdw sx="100000" sy="100000" kx="0" ky="0" algn="bl" rotWithShape="0" blurRad="76200" dist="25400" dir="5400000">
              <a:srgbClr val="E63946">
                <a:alpha val="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234440"/>
            <a:ext cx="21031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불편한 외부 예약 방식
</a:t>
            </a:r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대화방 이탈 및 동선 파편화
</a:t>
            </a:r>
            <a:pPr indent="0" marL="0">
              <a:buNone/>
            </a:pPr>
            <a:r>
              <a:rPr lang="en-US" sz="1000" dirty="0">
                <a:solidFill>
                  <a:srgbClr val="2D3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단톡방에서 외부 사이트 이동의 불편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000" dirty="0">
                <a:solidFill>
                  <a:srgbClr val="2D3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매번 로그인 및 정보 입력의 번거로움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000" dirty="0">
                <a:solidFill>
                  <a:srgbClr val="2D3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예약 결과를 다시 단톡방에 인증하는 단절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291840" y="1051560"/>
            <a:ext cx="2468880" cy="2880360"/>
          </a:xfrm>
          <a:prstGeom prst="roundRect">
            <a:avLst>
              <a:gd name="adj" fmla="val 2963"/>
            </a:avLst>
          </a:prstGeom>
          <a:solidFill>
            <a:srgbClr val="FFF5F5"/>
          </a:solidFill>
          <a:ln w="12700">
            <a:solidFill>
              <a:srgbClr val="FED7D7"/>
            </a:solidFill>
            <a:prstDash val="solid"/>
          </a:ln>
          <a:effectLst>
            <a:outerShdw sx="100000" sy="100000" kx="0" ky="0" algn="bl" rotWithShape="0" blurRad="76200" dist="25400" dir="5400000">
              <a:srgbClr val="E63946">
                <a:alpha val="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1234440"/>
            <a:ext cx="21031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공식 챗봇의 단체방 불허
</a:t>
            </a:r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오픈채팅방 내 챗봇 가동 불가
</a:t>
            </a:r>
            <a:pPr indent="0" marL="0">
              <a:buNone/>
            </a:pPr>
            <a:r>
              <a:rPr lang="en-US" sz="1000" dirty="0">
                <a:solidFill>
                  <a:srgbClr val="2D3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카카오 비즈니스 API는 1:1 대화만 지원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000" dirty="0">
                <a:solidFill>
                  <a:srgbClr val="2D3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단체 대화방 내 기능 작동 원천 불가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000" dirty="0">
                <a:solidFill>
                  <a:srgbClr val="2D3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고정 시나리오만 회신 (실시간 DB 연동 불가)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35040" y="1051560"/>
            <a:ext cx="2468880" cy="2880360"/>
          </a:xfrm>
          <a:prstGeom prst="roundRect">
            <a:avLst>
              <a:gd name="adj" fmla="val 2963"/>
            </a:avLst>
          </a:prstGeom>
          <a:solidFill>
            <a:srgbClr val="FFF5F5"/>
          </a:solidFill>
          <a:ln w="12700">
            <a:solidFill>
              <a:srgbClr val="FED7D7"/>
            </a:solidFill>
            <a:prstDash val="solid"/>
          </a:ln>
          <a:effectLst>
            <a:outerShdw sx="100000" sy="100000" kx="0" ky="0" algn="bl" rotWithShape="0" blurRad="76200" dist="25400" dir="5400000">
              <a:srgbClr val="E63946">
                <a:alpha val="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17920" y="1234440"/>
            <a:ext cx="21031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점주의 수동 장부 관리
</a:t>
            </a:r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오버부킹 및 누락의 주 원인
</a:t>
            </a:r>
            <a:pPr indent="0" marL="0">
              <a:buNone/>
            </a:pPr>
            <a:r>
              <a:rPr lang="en-US" sz="1000" dirty="0">
                <a:solidFill>
                  <a:srgbClr val="2D3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예약을 매니저가 엑셀/종이에 수기 기입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000" dirty="0">
                <a:solidFill>
                  <a:srgbClr val="2D3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피크 타임 예약 누락 및 오버부킹 빈번하게 발생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000" dirty="0">
                <a:solidFill>
                  <a:srgbClr val="2D3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실시간 잔여 석 정보 공유 지체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04. 실시간 카카오톡 예약 자동 연동 4단계
</a:t>
            </a:r>
            <a:pPr indent="0" marL="0">
              <a:buNone/>
            </a:pPr>
            <a:r>
              <a:rPr lang="en-US" sz="1050" dirty="0">
                <a:solidFill>
                  <a:srgbClr val="4091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톡방 메시지 전송부터 자동 답장 발송 및 점주 단말기 푸시 알림까지 끊김 없는 4단계 자동화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8046720" cy="18288"/>
          </a:xfrm>
          <a:prstGeom prst="rect">
            <a:avLst/>
          </a:prstGeom>
          <a:solidFill>
            <a:srgbClr val="4091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1828800" cy="2880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554480"/>
            <a:ext cx="15544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4091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01
</a:t>
            </a:r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예약 메시지 발송
</a:t>
            </a:r>
            <a:pPr indent="0" marL="0">
              <a:buNone/>
            </a:pPr>
            <a:r>
              <a:rPr lang="en-US" sz="900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고객이 지정된 명령 규칙에 맞춰 단톡방에 메시지를 올립니다.
</a:t>
            </a:r>
            <a:pPr indent="0" marL="0">
              <a:buNone/>
            </a:pPr>
            <a:r>
              <a:rPr lang="en-US" sz="950" b="1" dirty="0">
                <a:solidFill>
                  <a:srgbClr val="2D6A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예시: /예약 19시 홍길동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395728" y="2377440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091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▶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60320" y="1417320"/>
            <a:ext cx="1828800" cy="2880360"/>
          </a:xfrm>
          <a:prstGeom prst="roundRect">
            <a:avLst>
              <a:gd name="adj" fmla="val 4000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01600" dist="25400" dir="5400000">
              <a:srgbClr val="081F14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97480" y="1554480"/>
            <a:ext cx="15544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8F3D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02
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알림 감시 및 답장
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전용 봇 앱이 알림을 감지해 정원 확인 후 단톡방에 답장을 보냅니다.
</a:t>
            </a:r>
            <a:pPr indent="0" marL="0">
              <a:buNone/>
            </a:pPr>
            <a:r>
              <a:rPr lang="en-US" sz="950" b="1" dirty="0">
                <a:solidFill>
                  <a:srgbClr val="D8F3D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예시: 홍길동님 예약 완료 (8/10명)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407408" y="2377440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091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▶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0" y="1417320"/>
            <a:ext cx="1828800" cy="2880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1554480"/>
            <a:ext cx="15544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4091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03
</a:t>
            </a:r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서버 동기화
</a:t>
            </a:r>
            <a:pPr indent="0" marL="0">
              <a:buNone/>
            </a:pPr>
            <a:r>
              <a:rPr lang="en-US" sz="900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예약 결과가 지점 클라우드 장부에 실시간으로 동기화됩니다.
</a:t>
            </a:r>
            <a:pPr indent="0" marL="0">
              <a:buNone/>
            </a:pPr>
            <a:r>
              <a:rPr lang="en-US" sz="950" b="1" dirty="0">
                <a:solidFill>
                  <a:srgbClr val="2D6A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결과: 서버 DB 내역 적재 및 갱신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19088" y="2377440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091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▶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83680" y="1417320"/>
            <a:ext cx="1828800" cy="2880360"/>
          </a:xfrm>
          <a:prstGeom prst="roundRect">
            <a:avLst>
              <a:gd name="adj" fmla="val 4000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01600" dist="25400" dir="5400000">
              <a:srgbClr val="081F14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20840" y="1554480"/>
            <a:ext cx="15544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8F3D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04
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스마트폰 알림
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동기화 완료 시 점주 및 매니저 기기로 푸시 알림이 즉시 발송됩니다.
</a:t>
            </a:r>
            <a:pPr indent="0" marL="0">
              <a:buNone/>
            </a:pPr>
            <a:r>
              <a:rPr lang="en-US" sz="950" b="1" dirty="0">
                <a:solidFill>
                  <a:srgbClr val="D8F3D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결과: 관리자 푸시 및 화면 갱신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05. 구현 기능: 점주 및 관리자용 모바일 관리 앱
</a:t>
            </a:r>
            <a:pPr indent="0" marL="0">
              <a:buNone/>
            </a:pPr>
            <a:r>
              <a:rPr lang="en-US" sz="1050" dirty="0">
                <a:solidFill>
                  <a:srgbClr val="4091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 점주와 직원이 예약을 실시간 모니터링하고 직접 제어할 수 있는 스마트 관리 화면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8046720" cy="18288"/>
          </a:xfrm>
          <a:prstGeom prst="rect">
            <a:avLst/>
          </a:prstGeom>
          <a:solidFill>
            <a:srgbClr val="4091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5156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18872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📊 실시간 예약 대시보드 현황판
</a:t>
            </a:r>
            <a:pPr indent="0" marL="0">
              <a:buNone/>
            </a:pPr>
            <a:r>
              <a:rPr lang="en-US" sz="950" dirty="0">
                <a:solidFill>
                  <a:srgbClr val="2D3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현황 모니터링: 시간별 정원 및 예약 명단 실시간 조회</a:t>
            </a:r>
            <a:endParaRPr lang="en-US" sz="1400" dirty="0"/>
          </a:p>
          <a:p>
            <a:pPr indent="0" marL="0">
              <a:buNone/>
            </a:pPr>
            <a:r>
              <a:rPr lang="en-US" sz="950" dirty="0">
                <a:solidFill>
                  <a:srgbClr val="2D3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진행률 시각화: 정원 대비 예약 인원 비율 카드형 노출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05156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18872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✏️ 간편 예약 관리 제어 및 수동 조작
</a:t>
            </a:r>
            <a:pPr indent="0" marL="0">
              <a:buNone/>
            </a:pPr>
            <a:r>
              <a:rPr lang="en-US" sz="950" dirty="0">
                <a:solidFill>
                  <a:srgbClr val="2D3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간편 예약 제어: 3초 내 예약자 추가/수정/대기/취소</a:t>
            </a:r>
            <a:endParaRPr lang="en-US" sz="1400" dirty="0"/>
          </a:p>
          <a:p>
            <a:pPr indent="0" marL="0">
              <a:buNone/>
            </a:pPr>
            <a:r>
              <a:rPr lang="en-US" sz="950" dirty="0">
                <a:solidFill>
                  <a:srgbClr val="2D3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양방향 동기화: 점주 수정 내역이 봇과 서버에 즉시 전파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274320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🔔 즉각적인 예약 푸시 알림
</a:t>
            </a:r>
            <a:pPr indent="0" marL="0">
              <a:buNone/>
            </a:pPr>
            <a:r>
              <a:rPr lang="en-US" sz="950" dirty="0">
                <a:solidFill>
                  <a:srgbClr val="2D3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실시간 알림: 단톡방 예약 성사 시 스마트폰 FCM 푸시</a:t>
            </a:r>
            <a:endParaRPr lang="en-US" sz="1400" dirty="0"/>
          </a:p>
          <a:p>
            <a:pPr indent="0" marL="0">
              <a:buNone/>
            </a:pPr>
            <a:r>
              <a:rPr lang="en-US" sz="950" dirty="0">
                <a:solidFill>
                  <a:srgbClr val="2D3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자동 화면 연결: 푸시 클릭 시 예약 상세 뷰어로 진입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260604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274320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👥 다중 지점 생성 및 매장 직원 관리
</a:t>
            </a:r>
            <a:pPr indent="0" marL="0">
              <a:buNone/>
            </a:pPr>
            <a:r>
              <a:rPr lang="en-US" sz="950" dirty="0">
                <a:solidFill>
                  <a:srgbClr val="2D3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다중 매장 제어: 점주 계정 하나로 여러 지점 선택 관리</a:t>
            </a:r>
            <a:endParaRPr lang="en-US" sz="1400" dirty="0"/>
          </a:p>
          <a:p>
            <a:pPr indent="0" marL="0">
              <a:buNone/>
            </a:pPr>
            <a:r>
              <a:rPr lang="en-US" sz="950" dirty="0">
                <a:solidFill>
                  <a:srgbClr val="2D3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직원 권한 부여: 7일 만기 초대 코드로 직원 초대 및 등록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06. 구현 기능: 24시간 자동 응답 예약 챗봇 및 설정
</a:t>
            </a:r>
            <a:pPr indent="0" marL="0">
              <a:buNone/>
            </a:pPr>
            <a:r>
              <a:rPr lang="en-US" sz="1050" dirty="0">
                <a:solidFill>
                  <a:srgbClr val="4091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매장에 거치된 안드로이드 기기를 활용해 단톡방 예약을 파싱하고 템플릿 설정을 커스텀하는 기능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8046720" cy="18288"/>
          </a:xfrm>
          <a:prstGeom prst="rect">
            <a:avLst/>
          </a:prstGeom>
          <a:solidFill>
            <a:srgbClr val="4091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5156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18872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💬 단톡방 명령어 자동 파싱 및 답장
</a:t>
            </a:r>
            <a:pPr indent="0" marL="0">
              <a:buNone/>
            </a:pPr>
            <a:r>
              <a:rPr lang="en-US" sz="950" dirty="0">
                <a:solidFill>
                  <a:srgbClr val="2D3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키워드 자동 감지: 단톡방 내 /예약, /취소, /조회 식별</a:t>
            </a:r>
            <a:endParaRPr lang="en-US" sz="1400" dirty="0"/>
          </a:p>
          <a:p>
            <a:pPr indent="0" marL="0">
              <a:buNone/>
            </a:pPr>
            <a:r>
              <a:rPr lang="en-US" sz="950" dirty="0">
                <a:solidFill>
                  <a:srgbClr val="2D3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실시간 자동 답장: 잔여 정원 확인 후 단톡방 즉시 회신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05156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18872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🔒 채팅방 성격 분류 및 권한 관리
</a:t>
            </a:r>
            <a:pPr indent="0" marL="0">
              <a:buNone/>
            </a:pPr>
            <a:r>
              <a:rPr lang="en-US" sz="950" dirty="0">
                <a:solidFill>
                  <a:srgbClr val="2D3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대화방 유형 분류: 예약방, 일반 대화방, 관리자방 지정</a:t>
            </a:r>
            <a:endParaRPr lang="en-US" sz="1400" dirty="0"/>
          </a:p>
          <a:p>
            <a:pPr indent="0" marL="0">
              <a:buNone/>
            </a:pPr>
            <a:r>
              <a:rPr lang="en-US" sz="950" dirty="0">
                <a:solidFill>
                  <a:srgbClr val="2D3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보안 권한 제어: 관리자 전용 명령어 도용 방지 정책 적용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274320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⚙️ 예약 항목 및 자동 응답 템플릿 설정
</a:t>
            </a:r>
            <a:pPr indent="0" marL="0">
              <a:buNone/>
            </a:pPr>
            <a:r>
              <a:rPr lang="en-US" sz="950" dirty="0">
                <a:solidFill>
                  <a:srgbClr val="2D3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예약 항목 관리: 예약 명칭 및 정원 한계를 앱에서 제어</a:t>
            </a:r>
            <a:endParaRPr lang="en-US" sz="1400" dirty="0"/>
          </a:p>
          <a:p>
            <a:pPr indent="0" marL="0">
              <a:buNone/>
            </a:pPr>
            <a:r>
              <a:rPr lang="en-US" sz="950" dirty="0">
                <a:solidFill>
                  <a:srgbClr val="2D3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연쇄 데이터 삭제: 항목 삭제 시 해당 예약 내역 자동 소거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260604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274320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🕒 영업 주기 기준 예약 자동 초기화 시각 설정
</a:t>
            </a:r>
            <a:pPr indent="0" marL="0">
              <a:buNone/>
            </a:pPr>
            <a:r>
              <a:rPr lang="en-US" sz="950" dirty="0">
                <a:solidFill>
                  <a:srgbClr val="2D3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일괄 자동 초기화: 영업 주기에 맞춘 장부 자동 초기화</a:t>
            </a:r>
            <a:endParaRPr lang="en-US" sz="1400" dirty="0"/>
          </a:p>
          <a:p>
            <a:pPr indent="0" marL="0">
              <a:buNone/>
            </a:pPr>
            <a:r>
              <a:rPr lang="en-US" sz="950" dirty="0">
                <a:solidFill>
                  <a:srgbClr val="2D3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설정 백업 복원: 봇 명령어 및 템플릿 서버 상시 백업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07. 시스템 동작 안정성 및 데이터 유실 방지 장치
</a:t>
            </a:r>
            <a:pPr indent="0" marL="0">
              <a:buNone/>
            </a:pPr>
            <a:r>
              <a:rPr lang="en-US" sz="1050" dirty="0">
                <a:solidFill>
                  <a:srgbClr val="4091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24시간 무중단 알림 수집 감시 엔진과 네트워크 단절 복구 아키텍처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8046720" cy="18288"/>
          </a:xfrm>
          <a:prstGeom prst="rect">
            <a:avLst/>
          </a:prstGeom>
          <a:solidFill>
            <a:srgbClr val="4091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51560"/>
            <a:ext cx="3749040" cy="2880360"/>
          </a:xfrm>
          <a:prstGeom prst="roundRect">
            <a:avLst>
              <a:gd name="adj" fmla="val 2540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01600" dist="25400" dir="5400000">
              <a:srgbClr val="081F14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234440"/>
            <a:ext cx="32004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🛡️ 포그라운드 Keep-Alive 및 5분 주기 Watchdog
</a:t>
            </a:r>
            <a:pPr indent="0" marL="0">
              <a:buNone/>
            </a:pPr>
            <a:r>
              <a:rPr lang="en-US" sz="850" b="1" dirty="0">
                <a:solidFill>
                  <a:srgbClr val="D8F3D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(Android Foreground Service &amp; Rebind Scheduler)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상시 실행 서비스 등록: Foreground 알림 노출로 OS 프로세스 강제 종료 방어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5분 주기 Watchdog: 독립 스레드가 챗봇 서비스 작동 여부 상시 감시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자동 자가 치유: 연결 단절 감지 시 requestRebind 즉시 자동 호출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663440" y="1051560"/>
            <a:ext cx="393192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234440"/>
            <a:ext cx="33832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⏳ 오프라인 대기 큐 및 자동 재시도 알고리즘
</a:t>
            </a:r>
            <a:pPr indent="0" marL="0">
              <a:buNone/>
            </a:pPr>
            <a:r>
              <a:rPr lang="en-US" sz="850" b="1" dirty="0">
                <a:solidFill>
                  <a:srgbClr val="4091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(SQLite Sync Queue &amp; Exponential Backoff)
</a:t>
            </a:r>
            <a:pPr indent="0" marL="0">
              <a:buNone/>
            </a:pPr>
            <a:r>
              <a:rPr lang="en-US" sz="1050" dirty="0">
                <a:solidFill>
                  <a:srgbClr val="2D3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오프라인 예약 보존: 인터넷 단절 시 내역을 로컬 SQLite에 임시 보존
</a:t>
            </a:r>
            <a:pPr indent="0" marL="0">
              <a:buNone/>
            </a:pPr>
            <a:r>
              <a:rPr lang="en-US" sz="1050" dirty="0">
                <a:solidFill>
                  <a:srgbClr val="2D3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지수 백오프 전송: 네트워크 연결 정상 복구 시 순차 서버 업로드
</a:t>
            </a:r>
            <a:pPr indent="0" marL="0">
              <a:buNone/>
            </a:pPr>
            <a:r>
              <a:rPr lang="en-US" sz="1050" dirty="0">
                <a:solidFill>
                  <a:srgbClr val="2D3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멱등성 검증 탑재: UUID 식별자 할당으로 중복 전송 및 데이터 충돌 방지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08. 실제 도입 및 운영 사례 (Case Studies)
</a:t>
            </a:r>
            <a:pPr indent="0" marL="0">
              <a:buNone/>
            </a:pPr>
            <a:r>
              <a:rPr lang="en-US" sz="1050" dirty="0">
                <a:solidFill>
                  <a:srgbClr val="4091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오프라인 매장 현장에서 예약 리소스를 극대화하고 오버부킹을 없앤 실제 제휴 사례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8046720" cy="18288"/>
          </a:xfrm>
          <a:prstGeom prst="rect">
            <a:avLst/>
          </a:prstGeom>
          <a:solidFill>
            <a:srgbClr val="4091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51560"/>
            <a:ext cx="2468880" cy="288036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234440"/>
            <a:ext cx="21031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 실내 스포츠 라운지 강남점
</a:t>
            </a:r>
            <a:pPr indent="0" marL="0">
              <a:buNone/>
            </a:pPr>
            <a:r>
              <a:rPr lang="en-US" sz="950" b="1" dirty="0">
                <a:solidFill>
                  <a:srgbClr val="4091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도입 완료 및 가동 중
</a:t>
            </a:r>
            <a:pPr indent="0" marL="0">
              <a:buNone/>
            </a:pPr>
            <a:r>
              <a:rPr lang="en-US" sz="1000" b="1" dirty="0">
                <a:solidFill>
                  <a:srgbClr val="2D3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도입 형태:
  매장 내 태블릿 1대 배치 (예약봇)
</a:t>
            </a:r>
            <a:pPr indent="0" marL="0">
              <a:buNone/>
            </a:pPr>
            <a:r>
              <a:rPr lang="en-US" sz="1000" dirty="0">
                <a:solidFill>
                  <a:srgbClr val="2D3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도입 결과 및 성과:</a:t>
            </a:r>
            <a:endParaRPr lang="en-US" sz="1350" dirty="0"/>
          </a:p>
          <a:p>
            <a:pPr indent="0" marL="0">
              <a:buNone/>
            </a:pPr>
            <a:r>
              <a:rPr lang="en-US" sz="1000" dirty="0">
                <a:solidFill>
                  <a:srgbClr val="2D3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일평균 약 90건 자동 예약 처리</a:t>
            </a:r>
            <a:endParaRPr lang="en-US" sz="1350" dirty="0"/>
          </a:p>
          <a:p>
            <a:pPr indent="0" marL="0">
              <a:buNone/>
            </a:pPr>
            <a:r>
              <a:rPr lang="en-US" sz="1000" dirty="0">
                <a:solidFill>
                  <a:srgbClr val="2D3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수동 입력 오버부킹율 0% 달성</a:t>
            </a:r>
            <a:endParaRPr lang="en-US" sz="1350" dirty="0"/>
          </a:p>
          <a:p>
            <a:pPr indent="0" marL="0">
              <a:buNone/>
            </a:pPr>
            <a:r>
              <a:rPr lang="en-US" sz="1000" dirty="0">
                <a:solidFill>
                  <a:srgbClr val="2D3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예약 대조 리소스 대폭 감축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291840" y="1051560"/>
            <a:ext cx="2468880" cy="288036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1234440"/>
            <a:ext cx="21031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 실내 탁구클럽 동호회
</a:t>
            </a:r>
            <a:pPr indent="0" marL="0">
              <a:buNone/>
            </a:pPr>
            <a:r>
              <a:rPr lang="en-US" sz="950" b="1" dirty="0">
                <a:solidFill>
                  <a:srgbClr val="4091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도입 완료 및 가동 중
</a:t>
            </a:r>
            <a:pPr indent="0" marL="0">
              <a:buNone/>
            </a:pPr>
            <a:r>
              <a:rPr lang="en-US" sz="1000" b="1" dirty="0">
                <a:solidFill>
                  <a:srgbClr val="2D3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도입 형태:
  동호인 오픈 단톡방 연동 챗봇
</a:t>
            </a:r>
            <a:pPr indent="0" marL="0">
              <a:buNone/>
            </a:pPr>
            <a:r>
              <a:rPr lang="en-US" sz="1000" dirty="0">
                <a:solidFill>
                  <a:srgbClr val="2D3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도입 결과 및 성과:</a:t>
            </a:r>
            <a:endParaRPr lang="en-US" sz="1350" dirty="0"/>
          </a:p>
          <a:p>
            <a:pPr indent="0" marL="0">
              <a:buNone/>
            </a:pPr>
            <a:r>
              <a:rPr lang="en-US" sz="1000" dirty="0">
                <a:solidFill>
                  <a:srgbClr val="2D3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회원 친목 게임 매칭 참여율 35% 상승</a:t>
            </a:r>
            <a:endParaRPr lang="en-US" sz="1350" dirty="0"/>
          </a:p>
          <a:p>
            <a:pPr indent="0" marL="0">
              <a:buNone/>
            </a:pPr>
            <a:r>
              <a:rPr lang="en-US" sz="1000" dirty="0">
                <a:solidFill>
                  <a:srgbClr val="2D3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실시간 대관 정원 도달 시간 단축</a:t>
            </a:r>
            <a:endParaRPr lang="en-US" sz="1350" dirty="0"/>
          </a:p>
          <a:p>
            <a:pPr indent="0" marL="0">
              <a:buNone/>
            </a:pPr>
            <a:r>
              <a:rPr lang="en-US" sz="1000" dirty="0">
                <a:solidFill>
                  <a:srgbClr val="2D3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코치진 스케줄 관리 단순화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35040" y="1051560"/>
            <a:ext cx="2468880" cy="288036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17920" y="1234440"/>
            <a:ext cx="21031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 스크린골프 / 볼링장
</a:t>
            </a:r>
            <a:pPr indent="0" marL="0">
              <a:buNone/>
            </a:pPr>
            <a:r>
              <a:rPr lang="en-US" sz="950" b="1" dirty="0">
                <a:solidFill>
                  <a:srgbClr val="4091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도입 및 커스텀 조율 중
</a:t>
            </a:r>
            <a:pPr indent="0" marL="0">
              <a:buNone/>
            </a:pPr>
            <a:r>
              <a:rPr lang="en-US" sz="1000" b="1" dirty="0">
                <a:solidFill>
                  <a:srgbClr val="2D3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도입 형태:
  라인별 예약 전용 알림 챗봇
</a:t>
            </a:r>
            <a:pPr indent="0" marL="0">
              <a:buNone/>
            </a:pPr>
            <a:r>
              <a:rPr lang="en-US" sz="1000" dirty="0">
                <a:solidFill>
                  <a:srgbClr val="2D3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도입 결과 및 성과:</a:t>
            </a:r>
            <a:endParaRPr lang="en-US" sz="1350" dirty="0"/>
          </a:p>
          <a:p>
            <a:pPr indent="0" marL="0">
              <a:buNone/>
            </a:pPr>
            <a:r>
              <a:rPr lang="en-US" sz="1000" dirty="0">
                <a:solidFill>
                  <a:srgbClr val="2D3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카톡 예약 상담 전화 리소스 85% 감축</a:t>
            </a:r>
            <a:endParaRPr lang="en-US" sz="1350" dirty="0"/>
          </a:p>
          <a:p>
            <a:pPr indent="0" marL="0">
              <a:buNone/>
            </a:pPr>
            <a:r>
              <a:rPr lang="en-US" sz="1000" dirty="0">
                <a:solidFill>
                  <a:srgbClr val="2D3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실시간 룸 현황판 공유 자동화</a:t>
            </a:r>
            <a:endParaRPr lang="en-US" sz="1350" dirty="0"/>
          </a:p>
          <a:p>
            <a:pPr indent="0" marL="0">
              <a:buNone/>
            </a:pPr>
            <a:r>
              <a:rPr lang="en-US" sz="1000" dirty="0">
                <a:solidFill>
                  <a:srgbClr val="2D3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대기열 알림 연동으로 중복 방지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8640" y="41148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5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[작성용 가이드]: 실제 제휴 매장 및 도입처의 상세 데이터로 텍스트를 즉시 변경하여 활용할 수 있습니다.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"/>
          </a:xfrm>
          <a:prstGeom prst="rect">
            <a:avLst/>
          </a:prstGeom>
          <a:solidFill>
            <a:srgbClr val="4091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54864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예약 자동화와 커뮤니티 결속을 동시에
</a:t>
            </a:r>
            <a:pPr indent="0" marL="0">
              <a:buNone/>
            </a:pPr>
            <a:r>
              <a:rPr lang="en-US" sz="1100" dirty="0">
                <a:solidFill>
                  <a:srgbClr val="D8F3D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단톡방 대화에서 예약 장부까지 연결하는 단 하나의 오프라인 운영 솔루션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6002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8F3D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■ 서비스 고도화 및 기술 로드맵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1828800" cy="2011680"/>
          </a:xfrm>
          <a:prstGeom prst="roundRect">
            <a:avLst>
              <a:gd name="adj" fmla="val 4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101600" dist="25400" dir="5400000">
              <a:srgbClr val="081F14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2148840"/>
            <a:ext cx="15544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D8F3D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
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예약 대기열 자동화
</a:t>
            </a:r>
            <a:pPr indent="0" marL="0">
              <a:buNone/>
            </a:pPr>
            <a:r>
              <a:rPr lang="en-US" sz="850" dirty="0">
                <a:solidFill>
                  <a:srgbClr val="D8F3D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정원 초과 시 대기 순서 지정. 예약 취소 시 대기 순번 고객 예약 자동 승계 및 톡방 알림 발송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60320" y="2011680"/>
            <a:ext cx="1828800" cy="2011680"/>
          </a:xfrm>
          <a:prstGeom prst="roundRect">
            <a:avLst>
              <a:gd name="adj" fmla="val 4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101600" dist="25400" dir="5400000">
              <a:srgbClr val="081F14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97480" y="2148840"/>
            <a:ext cx="15544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D8F3D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
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운영사 통합 웹 콘솔
</a:t>
            </a:r>
            <a:pPr indent="0" marL="0">
              <a:buNone/>
            </a:pPr>
            <a:r>
              <a:rPr lang="en-US" sz="850" dirty="0">
                <a:solidFill>
                  <a:srgbClr val="D8F3D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신규 가맹 매장 개설, 라이선스 승인/만기 관리, 지점 봇 상태를 감시하는 본사 웹 어드민 개발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0" y="2011680"/>
            <a:ext cx="1828800" cy="2011680"/>
          </a:xfrm>
          <a:prstGeom prst="roundRect">
            <a:avLst>
              <a:gd name="adj" fmla="val 4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101600" dist="25400" dir="5400000">
              <a:srgbClr val="081F14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09160" y="2148840"/>
            <a:ext cx="15544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D8F3D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
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클라이언트 보안 강화
</a:t>
            </a:r>
            <a:pPr indent="0" marL="0">
              <a:buNone/>
            </a:pPr>
            <a:r>
              <a:rPr lang="en-US" sz="850" dirty="0">
                <a:solidFill>
                  <a:srgbClr val="D8F3D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비인가 임의 단말의 API 탈취 방어. Play Integrity 및 Firebase App Check 보안 체계 구축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583680" y="2011680"/>
            <a:ext cx="1828800" cy="2011680"/>
          </a:xfrm>
          <a:prstGeom prst="roundRect">
            <a:avLst>
              <a:gd name="adj" fmla="val 4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101600" dist="25400" dir="5400000">
              <a:srgbClr val="081F14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720840" y="2148840"/>
            <a:ext cx="15544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D8F3D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4
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예측 통계 리포트
</a:t>
            </a:r>
            <a:pPr indent="0" marL="0">
              <a:buNone/>
            </a:pPr>
            <a:r>
              <a:rPr lang="en-US" sz="850" dirty="0">
                <a:solidFill>
                  <a:srgbClr val="D8F3D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누적된 예약 분석을 바탕으로 요일별 혼잡 시간 예측 모델 탑재 및 단골 재방문 주기 리포팅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5143500"/>
          </a:xfrm>
          <a:prstGeom prst="roundRect">
            <a:avLst/>
          </a:prstGeom>
          <a:solidFill>
            <a:srgbClr val="4091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0"/>
            <a:ext cx="64008" cy="5143500"/>
          </a:xfrm>
          <a:prstGeom prst="roundRect">
            <a:avLst/>
          </a:prstGeom>
          <a:solidFill>
            <a:srgbClr val="D8F3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234440"/>
            <a:ext cx="68580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감사합니다
</a:t>
            </a:r>
            <a:pPr indent="0" marL="0">
              <a:buNone/>
            </a:pPr>
            <a:r>
              <a:rPr lang="en-US" sz="1600" b="1" dirty="0">
                <a:solidFill>
                  <a:srgbClr val="D8F3D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Q&amp;A 및 문의사항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이메일: contact@example.com</a:t>
            </a:r>
            <a:endParaRPr lang="en-US" sz="4400" dirty="0"/>
          </a:p>
          <a:p>
            <a:pPr indent="0" marL="0">
              <a:buNone/>
            </a:pPr>
            <a:endParaRPr lang="en-US" sz="44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연락처: 010-XXXX-XXXX</a:t>
            </a:r>
            <a:endParaRPr lang="en-US" sz="4400" dirty="0"/>
          </a:p>
          <a:p>
            <a:pPr indent="0" marL="0">
              <a:buNone/>
            </a:pPr>
            <a:endParaRPr lang="en-US" sz="44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주소: [회사/사무실 주소 작성용]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2026-06-11T13:28:11Z</dcterms:created>
  <dcterms:modified xsi:type="dcterms:W3CDTF">2026-06-11T13:28:11Z</dcterms:modified>
</cp:coreProperties>
</file>